
<file path=[Content_Types].xml><?xml version="1.0" encoding="utf-8"?>
<Types xmlns="http://schemas.openxmlformats.org/package/2006/content-types">
  <Default Extension="bmp" ContentType="image/bmp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Bahnschrift SemiBold" panose="020B0502040204020203" pitchFamily="34" charset="0"/>
      <p:bold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69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614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b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microsoft.com/office/2007/relationships/hdphoto" Target="../media/hdphoto3.wdp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sv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98584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Система</a:t>
            </a:r>
            <a:r>
              <a:rPr lang="en-US" sz="445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 классификации и </a:t>
            </a:r>
            <a:r>
              <a:rPr lang="ru-RU" sz="445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хранения</a:t>
            </a:r>
            <a:r>
              <a:rPr lang="en-US" sz="445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 </a:t>
            </a:r>
            <a:r>
              <a:rPr lang="en-US" sz="4450" b="1" dirty="0" err="1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документ</a:t>
            </a:r>
            <a:r>
              <a:rPr lang="ru-RU" sz="4450" b="1" dirty="0" err="1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ов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42908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ru-RU" sz="17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Думает о порядке, чтобы вы могли думать о главном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6278982-7F9C-9C19-EA2C-4C65E7ABBE74}"/>
              </a:ext>
            </a:extLst>
          </p:cNvPr>
          <p:cNvSpPr/>
          <p:nvPr/>
        </p:nvSpPr>
        <p:spPr>
          <a:xfrm>
            <a:off x="12890500" y="7759700"/>
            <a:ext cx="1625600" cy="3629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300209-0049-AE41-5A53-10A761F97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8859" y="3506351"/>
            <a:ext cx="7373396" cy="178839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096AE5A-540A-741B-1FD7-05A27D84D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3411" y="2154736"/>
            <a:ext cx="1695141" cy="166222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4218EA8-0472-DD9E-7A30-313C36167162}"/>
              </a:ext>
            </a:extLst>
          </p:cNvPr>
          <p:cNvSpPr/>
          <p:nvPr/>
        </p:nvSpPr>
        <p:spPr>
          <a:xfrm>
            <a:off x="-1148047" y="3506351"/>
            <a:ext cx="1590426" cy="1788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134A583-E92A-29A3-E4BA-03BDF6973AC8}"/>
              </a:ext>
            </a:extLst>
          </p:cNvPr>
          <p:cNvSpPr/>
          <p:nvPr/>
        </p:nvSpPr>
        <p:spPr>
          <a:xfrm rot="462410">
            <a:off x="12028871" y="-2211435"/>
            <a:ext cx="4707758" cy="395347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C9150C-52AB-3F48-041F-3BECACEE2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0600" y="299215"/>
            <a:ext cx="209550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8B625E3-1BA7-DE9F-0F49-0607B7D08B3F}"/>
              </a:ext>
            </a:extLst>
          </p:cNvPr>
          <p:cNvSpPr/>
          <p:nvPr/>
        </p:nvSpPr>
        <p:spPr>
          <a:xfrm rot="21193296">
            <a:off x="-2571208" y="-2253834"/>
            <a:ext cx="4707758" cy="395347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7CACA2D-51B5-AC52-E7AB-0A83E8CF5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79" y="461140"/>
            <a:ext cx="1514475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8468FCE-C6A8-2097-040F-3364F606174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19779" y="108715"/>
            <a:ext cx="2457450" cy="9810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A00F185-F16D-FF70-B234-24FD6492CA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7366" y="7470459"/>
            <a:ext cx="14335668" cy="4260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0B64DA-A581-1B99-73AA-B1F4022593A7}"/>
              </a:ext>
            </a:extLst>
          </p:cNvPr>
          <p:cNvSpPr txBox="1"/>
          <p:nvPr/>
        </p:nvSpPr>
        <p:spPr>
          <a:xfrm>
            <a:off x="6225349" y="5041453"/>
            <a:ext cx="755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Bahnschrift SemiBold" panose="020B0502040204020203" pitchFamily="34" charset="0"/>
              </a:rPr>
              <a:t>Команда: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Bahnschrift SemiBold" panose="020B0502040204020203" pitchFamily="34" charset="0"/>
              </a:rPr>
              <a:t>FPS of RUSSIA</a:t>
            </a:r>
            <a:endParaRPr lang="ru-RU" sz="2400" dirty="0">
              <a:solidFill>
                <a:schemeClr val="tx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0730" y="641826"/>
            <a:ext cx="7668339" cy="1317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Проблемы современного документооборота</a:t>
            </a:r>
            <a:endParaRPr lang="en-US" sz="4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24230" y="2224802"/>
            <a:ext cx="3728799" cy="2601516"/>
          </a:xfrm>
          <a:prstGeom prst="roundRect">
            <a:avLst>
              <a:gd name="adj" fmla="val 42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  <a:effectLst>
            <a:outerShdw blurRad="31623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201370" y="2224802"/>
            <a:ext cx="91440" cy="2601516"/>
          </a:xfrm>
          <a:prstGeom prst="roundRect">
            <a:avLst>
              <a:gd name="adj" fmla="val 207501"/>
            </a:avLst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6526411" y="2458403"/>
            <a:ext cx="3193018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Хаотичное хранение документов</a:t>
            </a:r>
            <a:endParaRPr lang="en-US" sz="2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26411" y="3243501"/>
            <a:ext cx="3193018" cy="1349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 err="1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Разобщенные</a:t>
            </a: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</a:t>
            </a:r>
            <a:r>
              <a:rPr lang="en-US" sz="1650" dirty="0" err="1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файлы</a:t>
            </a:r>
            <a:r>
              <a:rPr lang="ru-RU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и</a:t>
            </a: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</a:t>
            </a:r>
            <a:r>
              <a:rPr lang="en-US" sz="1650" dirty="0" err="1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папки</a:t>
            </a: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</a:t>
            </a:r>
            <a:r>
              <a:rPr lang="ru-RU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в</a:t>
            </a: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</a:t>
            </a:r>
            <a:r>
              <a:rPr lang="en-US" sz="1650" dirty="0" err="1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систем</a:t>
            </a:r>
            <a:r>
              <a:rPr lang="ru-RU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е</a:t>
            </a: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приводят к беспорядку и потере важной информации.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163770" y="2224802"/>
            <a:ext cx="3728799" cy="2601516"/>
          </a:xfrm>
          <a:prstGeom prst="roundRect">
            <a:avLst>
              <a:gd name="adj" fmla="val 42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  <a:effectLst>
            <a:outerShdw blurRad="31623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140910" y="2224802"/>
            <a:ext cx="91440" cy="2601516"/>
          </a:xfrm>
          <a:prstGeom prst="roundRect">
            <a:avLst>
              <a:gd name="adj" fmla="val 207501"/>
            </a:avLst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10465951" y="2458403"/>
            <a:ext cx="3193018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 err="1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Сло</a:t>
            </a:r>
            <a:r>
              <a:rPr lang="ru-RU" sz="20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ж</a:t>
            </a:r>
            <a:r>
              <a:rPr lang="en-US" sz="2050" b="1" dirty="0" err="1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ность</a:t>
            </a:r>
            <a:r>
              <a:rPr lang="en-US" sz="20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 поиска и классификации</a:t>
            </a:r>
            <a:endParaRPr lang="en-US" sz="2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465951" y="3243501"/>
            <a:ext cx="3193018" cy="1349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Трата времени на поиск нужных документов и отсутствие единых правил их организации.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24230" y="5037058"/>
            <a:ext cx="3728799" cy="2601516"/>
          </a:xfrm>
          <a:prstGeom prst="roundRect">
            <a:avLst>
              <a:gd name="adj" fmla="val 42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  <a:effectLst>
            <a:outerShdw blurRad="31623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01370" y="5037058"/>
            <a:ext cx="91440" cy="2601516"/>
          </a:xfrm>
          <a:prstGeom prst="roundRect">
            <a:avLst>
              <a:gd name="adj" fmla="val 207501"/>
            </a:avLst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6526411" y="5270659"/>
            <a:ext cx="3193018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Отсутствие единой системы</a:t>
            </a:r>
            <a:endParaRPr lang="en-US" sz="2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26411" y="6055757"/>
            <a:ext cx="3193018" cy="1349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Разрозненные подходы к документообороту создают барьеры для эффективного взаимодействия.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5A419C1-8C6E-801D-3323-6F0F26DE36F8}"/>
              </a:ext>
            </a:extLst>
          </p:cNvPr>
          <p:cNvSpPr/>
          <p:nvPr/>
        </p:nvSpPr>
        <p:spPr>
          <a:xfrm>
            <a:off x="12890500" y="7747000"/>
            <a:ext cx="1625600" cy="3629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60B659B-CF98-1466-8C7E-EF9FAB1E7FC0}"/>
              </a:ext>
            </a:extLst>
          </p:cNvPr>
          <p:cNvSpPr/>
          <p:nvPr/>
        </p:nvSpPr>
        <p:spPr>
          <a:xfrm rot="462410">
            <a:off x="12843490" y="-2023833"/>
            <a:ext cx="3573820" cy="3047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4B4C281A-EBED-6734-5E2E-ABED1624E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0500" y="144121"/>
            <a:ext cx="1615437" cy="48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880" y="927269"/>
            <a:ext cx="99612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Преимущества внедрения системы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2340" y="20386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Выбирая </a:t>
            </a:r>
            <a:r>
              <a:rPr lang="en-US" sz="1750" dirty="0" err="1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наш</a:t>
            </a:r>
            <a:r>
              <a:rPr lang="en-US" sz="17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</a:t>
            </a:r>
            <a:r>
              <a:rPr lang="ru-RU" sz="17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продукт вы значительно </a:t>
            </a:r>
            <a:r>
              <a:rPr lang="ru-RU" sz="1750" dirty="0" err="1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упрошаяете</a:t>
            </a:r>
            <a:r>
              <a:rPr lang="ru-RU" sz="17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жизнь</a:t>
            </a:r>
            <a:r>
              <a:rPr lang="en-US" sz="17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вашей компании.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2340" y="2770028"/>
            <a:ext cx="3408521" cy="283488"/>
          </a:xfrm>
          <a:prstGeom prst="roundRect">
            <a:avLst>
              <a:gd name="adj" fmla="val 72012"/>
            </a:avLst>
          </a:prstGeom>
          <a:solidFill>
            <a:srgbClr val="FFFFFF"/>
          </a:solidFill>
          <a:ln/>
          <a:effectLst>
            <a:outerShdw blurRad="33909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2340" y="2770028"/>
            <a:ext cx="2385893" cy="283488"/>
          </a:xfrm>
          <a:prstGeom prst="roundRect">
            <a:avLst>
              <a:gd name="adj" fmla="val 72012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4210882" y="2770028"/>
            <a:ext cx="58007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70%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2340" y="3336884"/>
            <a:ext cx="40870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Сокращение времени поиска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2340" y="382730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Значительное ускорение процесса нахождения необходимой информации.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74443" y="2770028"/>
            <a:ext cx="3260288" cy="283488"/>
          </a:xfrm>
          <a:prstGeom prst="roundRect">
            <a:avLst>
              <a:gd name="adj" fmla="val 72012"/>
            </a:avLst>
          </a:prstGeom>
          <a:solidFill>
            <a:srgbClr val="FFFFFF"/>
          </a:solidFill>
          <a:ln/>
          <a:effectLst>
            <a:outerShdw blurRad="33909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74443" y="2770028"/>
            <a:ext cx="3260288" cy="283488"/>
          </a:xfrm>
          <a:prstGeom prst="roundRect">
            <a:avLst>
              <a:gd name="adj" fmla="val 72012"/>
            </a:avLst>
          </a:prstGeom>
          <a:solidFill>
            <a:srgbClr val="2150FE"/>
          </a:solidFill>
          <a:ln/>
        </p:spPr>
      </p:sp>
      <p:sp>
        <p:nvSpPr>
          <p:cNvPr id="11" name="Text 9"/>
          <p:cNvSpPr/>
          <p:nvPr/>
        </p:nvSpPr>
        <p:spPr>
          <a:xfrm>
            <a:off x="8504752" y="2770028"/>
            <a:ext cx="72830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100%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74443" y="3336884"/>
            <a:ext cx="41213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Упорядочивание документов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74443" y="382730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Полная организация и систематизация всей документации.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516545" y="2770028"/>
            <a:ext cx="3395424" cy="283488"/>
          </a:xfrm>
          <a:prstGeom prst="roundRect">
            <a:avLst>
              <a:gd name="adj" fmla="val 72012"/>
            </a:avLst>
          </a:prstGeom>
          <a:solidFill>
            <a:srgbClr val="FFFFFF"/>
          </a:solidFill>
          <a:ln/>
          <a:effectLst>
            <a:outerShdw blurRad="33909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16545" y="2770028"/>
            <a:ext cx="1018580" cy="283488"/>
          </a:xfrm>
          <a:prstGeom prst="roundRect">
            <a:avLst>
              <a:gd name="adj" fmla="val 72012"/>
            </a:avLst>
          </a:prstGeom>
          <a:solidFill>
            <a:srgbClr val="2150FE"/>
          </a:solidFill>
          <a:ln/>
        </p:spPr>
      </p:sp>
      <p:sp>
        <p:nvSpPr>
          <p:cNvPr id="16" name="Text 14"/>
          <p:cNvSpPr/>
          <p:nvPr/>
        </p:nvSpPr>
        <p:spPr>
          <a:xfrm>
            <a:off x="13081991" y="2770028"/>
            <a:ext cx="59316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30%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16545" y="3336884"/>
            <a:ext cx="39971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Повышение эффективности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516545" y="382730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Оптимизация рабочих процессов и продуктивности сотрудников.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DFC979B-F584-AAB1-5CF0-C88845687426}"/>
              </a:ext>
            </a:extLst>
          </p:cNvPr>
          <p:cNvSpPr/>
          <p:nvPr/>
        </p:nvSpPr>
        <p:spPr>
          <a:xfrm>
            <a:off x="12890500" y="7747000"/>
            <a:ext cx="1625600" cy="3629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E98B01D-2B98-1FF7-D407-0E00EEE1EAC6}"/>
              </a:ext>
            </a:extLst>
          </p:cNvPr>
          <p:cNvSpPr/>
          <p:nvPr/>
        </p:nvSpPr>
        <p:spPr>
          <a:xfrm rot="462410">
            <a:off x="12654420" y="-1843103"/>
            <a:ext cx="3573820" cy="3047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F9029FAB-BFB8-0213-C641-F06EF3898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5893" y="231910"/>
            <a:ext cx="1615437" cy="48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F915023-019C-48D1-3A7E-D3BC1D26E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55" y="5843050"/>
            <a:ext cx="3068803" cy="1332667"/>
          </a:xfrm>
          <a:prstGeom prst="rect">
            <a:avLst/>
          </a:prstGeom>
        </p:spPr>
      </p:pic>
      <p:pic>
        <p:nvPicPr>
          <p:cNvPr id="2056" name="Picture 8" descr="Dropbox">
            <a:extLst>
              <a:ext uri="{FF2B5EF4-FFF2-40B4-BE49-F238E27FC236}">
                <a16:creationId xmlns:a16="http://schemas.microsoft.com/office/drawing/2014/main" id="{B0FF50C0-4A94-DC8A-A55C-87E5A2BF6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175" y="5271772"/>
            <a:ext cx="3713797" cy="247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1AB2D804-87B3-2D92-676A-BB675D291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981" y="5644731"/>
            <a:ext cx="1570854" cy="172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Переход на Яндекс 360 для бизнеса вдвое снизит затраты Московского  ювелирного завода на цифровые сервисы - ict-online.ru">
            <a:extLst>
              <a:ext uri="{FF2B5EF4-FFF2-40B4-BE49-F238E27FC236}">
                <a16:creationId xmlns:a16="http://schemas.microsoft.com/office/drawing/2014/main" id="{06095E8A-F5B1-1A8F-07A1-B9408F73B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406" y="5176085"/>
            <a:ext cx="3810000" cy="253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F451D7E-EBDB-C32B-F1A2-B1C0F5DC4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91" y="1713969"/>
            <a:ext cx="8249581" cy="558842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631507"/>
            <a:ext cx="1135118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Наше Решение: Интеллектуальный Документооборот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597146" y="1609606"/>
            <a:ext cx="5766554" cy="1728311"/>
          </a:xfrm>
          <a:prstGeom prst="roundRect">
            <a:avLst>
              <a:gd name="adj" fmla="val 8859"/>
            </a:avLst>
          </a:prstGeom>
          <a:solidFill>
            <a:srgbClr val="FFFFFF"/>
          </a:solidFill>
          <a:ln/>
          <a:effectLst>
            <a:outerShdw blurRad="254000" algn="bl" rotWithShape="0">
              <a:srgbClr val="333333">
                <a:alpha val="1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7542" y="1919883"/>
            <a:ext cx="229553" cy="229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67167" y="245995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Единая платформа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767167" y="2895719"/>
            <a:ext cx="597384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Все ваши документы в </a:t>
            </a:r>
            <a:r>
              <a:rPr lang="en-US" sz="1300" dirty="0" err="1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одном</a:t>
            </a:r>
            <a:r>
              <a:rPr lang="en-US" sz="13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месте.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597146" y="3507938"/>
            <a:ext cx="5766554" cy="2000488"/>
          </a:xfrm>
          <a:prstGeom prst="roundRect">
            <a:avLst>
              <a:gd name="adj" fmla="val 7654"/>
            </a:avLst>
          </a:prstGeom>
          <a:solidFill>
            <a:srgbClr val="FFFFFF"/>
          </a:solidFill>
          <a:ln/>
          <a:effectLst>
            <a:outerShdw blurRad="254000" algn="bl" rotWithShape="0">
              <a:srgbClr val="333333">
                <a:alpha val="1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07542" y="3818215"/>
            <a:ext cx="229553" cy="2295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67167" y="4358283"/>
            <a:ext cx="347436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Автоматическая классификация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767167" y="4794052"/>
            <a:ext cx="5973842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Интеллектуальная система сама распределяет документы </a:t>
            </a:r>
            <a:r>
              <a:rPr lang="en-US" sz="1300" dirty="0" err="1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по</a:t>
            </a:r>
            <a:r>
              <a:rPr lang="en-US" sz="13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</a:t>
            </a:r>
            <a:r>
              <a:rPr lang="ru-RU" sz="13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правилам</a:t>
            </a:r>
            <a:r>
              <a:rPr lang="en-US" sz="13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8597146" y="5678448"/>
            <a:ext cx="5766554" cy="1728311"/>
          </a:xfrm>
          <a:prstGeom prst="roundRect">
            <a:avLst>
              <a:gd name="adj" fmla="val 8859"/>
            </a:avLst>
          </a:prstGeom>
          <a:solidFill>
            <a:srgbClr val="FFFFFF"/>
          </a:solidFill>
          <a:ln/>
          <a:effectLst>
            <a:outerShdw blurRad="254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767167" y="5848469"/>
            <a:ext cx="510302" cy="510302"/>
          </a:xfrm>
          <a:prstGeom prst="roundRect">
            <a:avLst>
              <a:gd name="adj" fmla="val 17917009"/>
            </a:avLst>
          </a:prstGeom>
          <a:solidFill>
            <a:srgbClr val="2150F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07542" y="5988725"/>
            <a:ext cx="229553" cy="2295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67167" y="6528792"/>
            <a:ext cx="212919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Интуитивный поиск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767167" y="6964561"/>
            <a:ext cx="597384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Найдите любой документ так же легко, как пост в социальной сети.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94CAFFC7-1363-1823-7045-DD198EDCBBC0}"/>
              </a:ext>
            </a:extLst>
          </p:cNvPr>
          <p:cNvSpPr/>
          <p:nvPr/>
        </p:nvSpPr>
        <p:spPr>
          <a:xfrm>
            <a:off x="12890500" y="7747000"/>
            <a:ext cx="1625600" cy="3629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266A297E-7013-F2D9-1BFE-CA3CFDA7AAA1}"/>
              </a:ext>
            </a:extLst>
          </p:cNvPr>
          <p:cNvSpPr/>
          <p:nvPr/>
        </p:nvSpPr>
        <p:spPr>
          <a:xfrm rot="462410">
            <a:off x="12654420" y="-1843103"/>
            <a:ext cx="3573820" cy="3047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87F6E735-6950-1A19-D41D-A949726EF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5893" y="231910"/>
            <a:ext cx="1615437" cy="48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20743669-E69C-2B65-67D2-64BB55FCCF36}"/>
              </a:ext>
            </a:extLst>
          </p:cNvPr>
          <p:cNvSpPr/>
          <p:nvPr/>
        </p:nvSpPr>
        <p:spPr>
          <a:xfrm>
            <a:off x="8783836" y="1828800"/>
            <a:ext cx="493633" cy="461128"/>
          </a:xfrm>
          <a:prstGeom prst="ellipse">
            <a:avLst/>
          </a:prstGeom>
          <a:solidFill>
            <a:srgbClr val="2150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EEA689C8-B2E0-7B54-7373-E6D5688F15F4}"/>
              </a:ext>
            </a:extLst>
          </p:cNvPr>
          <p:cNvSpPr/>
          <p:nvPr/>
        </p:nvSpPr>
        <p:spPr>
          <a:xfrm>
            <a:off x="8783836" y="3727133"/>
            <a:ext cx="493633" cy="461128"/>
          </a:xfrm>
          <a:prstGeom prst="ellipse">
            <a:avLst/>
          </a:prstGeom>
          <a:solidFill>
            <a:srgbClr val="2150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Равно 32">
            <a:extLst>
              <a:ext uri="{FF2B5EF4-FFF2-40B4-BE49-F238E27FC236}">
                <a16:creationId xmlns:a16="http://schemas.microsoft.com/office/drawing/2014/main" id="{5525AC2B-C524-0B56-264C-D2DBB79D3258}"/>
              </a:ext>
            </a:extLst>
          </p:cNvPr>
          <p:cNvSpPr/>
          <p:nvPr/>
        </p:nvSpPr>
        <p:spPr>
          <a:xfrm>
            <a:off x="8862297" y="1935956"/>
            <a:ext cx="334090" cy="229552"/>
          </a:xfrm>
          <a:prstGeom prst="mathEqual">
            <a:avLst/>
          </a:prstGeom>
          <a:solidFill>
            <a:srgbClr val="2150F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Стрелка: изогнутая 33">
            <a:extLst>
              <a:ext uri="{FF2B5EF4-FFF2-40B4-BE49-F238E27FC236}">
                <a16:creationId xmlns:a16="http://schemas.microsoft.com/office/drawing/2014/main" id="{11B2DDC9-4E47-78E8-6BEF-A43A52FECAF7}"/>
              </a:ext>
            </a:extLst>
          </p:cNvPr>
          <p:cNvSpPr/>
          <p:nvPr/>
        </p:nvSpPr>
        <p:spPr>
          <a:xfrm>
            <a:off x="9019875" y="3831491"/>
            <a:ext cx="150019" cy="126206"/>
          </a:xfrm>
          <a:prstGeom prst="bentArrow">
            <a:avLst>
              <a:gd name="adj1" fmla="val 17453"/>
              <a:gd name="adj2" fmla="val 25000"/>
              <a:gd name="adj3" fmla="val 25000"/>
              <a:gd name="adj4" fmla="val 43750"/>
            </a:avLst>
          </a:prstGeom>
          <a:solidFill>
            <a:srgbClr val="2150F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Стрелка: изогнутая влево 34">
            <a:extLst>
              <a:ext uri="{FF2B5EF4-FFF2-40B4-BE49-F238E27FC236}">
                <a16:creationId xmlns:a16="http://schemas.microsoft.com/office/drawing/2014/main" id="{70514FC5-0CC4-D6B7-3B42-84592E5CE9C8}"/>
              </a:ext>
            </a:extLst>
          </p:cNvPr>
          <p:cNvSpPr/>
          <p:nvPr/>
        </p:nvSpPr>
        <p:spPr>
          <a:xfrm rot="5400000">
            <a:off x="8906738" y="3946176"/>
            <a:ext cx="116681" cy="153173"/>
          </a:xfrm>
          <a:prstGeom prst="curvedLeftArrow">
            <a:avLst>
              <a:gd name="adj1" fmla="val 20854"/>
              <a:gd name="adj2" fmla="val 50000"/>
              <a:gd name="adj3" fmla="val 25000"/>
            </a:avLst>
          </a:prstGeom>
          <a:solidFill>
            <a:srgbClr val="2150F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4630400" cy="26509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52656"/>
            <a:ext cx="809255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Ключевые возможности системы</a:t>
            </a:r>
            <a:endParaRPr lang="en-US" sz="3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044315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Arial" panose="020B0604020202020204" pitchFamily="34" charset="0"/>
                <a:ea typeface="Overpass Light" pitchFamily="34" charset="-122"/>
                <a:cs typeface="Arial" panose="020B0604020202020204" pitchFamily="34" charset="0"/>
              </a:rPr>
              <a:t>01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4348996"/>
            <a:ext cx="6424970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491038"/>
            <a:ext cx="311550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Загрузка и категоризация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4907875"/>
            <a:ext cx="642497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Простая загрузка документов и автоматическое или ручное присвоение категорий.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11522" y="4044315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Arial" panose="020B0604020202020204" pitchFamily="34" charset="0"/>
                <a:ea typeface="Overpass Light" pitchFamily="34" charset="-122"/>
                <a:cs typeface="Arial" panose="020B0604020202020204" pitchFamily="34" charset="0"/>
              </a:rPr>
              <a:t>02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11522" y="4348996"/>
            <a:ext cx="6425089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7411522" y="4491038"/>
            <a:ext cx="459676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Поиск по содержимому и метаданным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411522" y="4907875"/>
            <a:ext cx="6425089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Быстрый и точный поиск по полному тексту документов и их атрибутам.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3790" y="5861923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Arial" panose="020B0604020202020204" pitchFamily="34" charset="0"/>
                <a:ea typeface="Overpass Light" pitchFamily="34" charset="-122"/>
                <a:cs typeface="Arial" panose="020B0604020202020204" pitchFamily="34" charset="0"/>
              </a:rPr>
              <a:t>03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93790" y="6166604"/>
            <a:ext cx="6424970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793790" y="6308646"/>
            <a:ext cx="416575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Древовидная структура каталогов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93790" y="6725483"/>
            <a:ext cx="642497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Логичная иерархическая организация для удобного доступа и обзора.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411522" y="5861923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Arial" panose="020B0604020202020204" pitchFamily="34" charset="0"/>
                <a:ea typeface="Overpass Light" pitchFamily="34" charset="-122"/>
                <a:cs typeface="Arial" panose="020B0604020202020204" pitchFamily="34" charset="0"/>
              </a:rPr>
              <a:t>04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411522" y="6166604"/>
            <a:ext cx="6425089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5"/>
          <p:cNvSpPr/>
          <p:nvPr/>
        </p:nvSpPr>
        <p:spPr>
          <a:xfrm>
            <a:off x="7411522" y="6308646"/>
            <a:ext cx="34690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Разграничение прав доступа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411522" y="6725483"/>
            <a:ext cx="6425089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Гибкая настройка прав для обеспечения конфиденциальности и безопасности данных.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46FE1FD9-6CF1-CB28-0090-D3624EF7B7B9}"/>
              </a:ext>
            </a:extLst>
          </p:cNvPr>
          <p:cNvSpPr/>
          <p:nvPr/>
        </p:nvSpPr>
        <p:spPr>
          <a:xfrm>
            <a:off x="12890500" y="7747000"/>
            <a:ext cx="1625600" cy="3629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5005185"/>
            <a:ext cx="125399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Интерфейс системы: привычный и удобный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608537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Наш интерфейс разработан с учетом лучшего опыта взаимодействия с социальными сетями, обеспечивая комфорт и интуитивность.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11458D2-8669-B98E-7525-E94278421D8C}"/>
              </a:ext>
            </a:extLst>
          </p:cNvPr>
          <p:cNvSpPr/>
          <p:nvPr/>
        </p:nvSpPr>
        <p:spPr>
          <a:xfrm>
            <a:off x="12890500" y="7747000"/>
            <a:ext cx="1625600" cy="3629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7BCEDE92-FD0D-B6B6-EA8D-30CDDF937B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332061" y="210082"/>
            <a:ext cx="13966277" cy="42136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491032"/>
            <a:ext cx="12828270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Интеллектуальная классификация документов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4810720"/>
            <a:ext cx="4203978" cy="2621280"/>
          </a:xfrm>
          <a:prstGeom prst="roundRect">
            <a:avLst>
              <a:gd name="adj" fmla="val 5581"/>
            </a:avLst>
          </a:prstGeom>
          <a:solidFill>
            <a:srgbClr val="FFFFFF">
              <a:alpha val="95000"/>
            </a:srgbClr>
          </a:solidFill>
          <a:ln/>
          <a:effectLst>
            <a:outerShdw blurRad="32258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93790" y="4780240"/>
            <a:ext cx="4203978" cy="121920"/>
          </a:xfrm>
          <a:prstGeom prst="roundRect">
            <a:avLst>
              <a:gd name="adj" fmla="val 159070"/>
            </a:avLst>
          </a:prstGeom>
          <a:solidFill>
            <a:srgbClr val="2150FE"/>
          </a:solidFill>
          <a:ln/>
        </p:spPr>
      </p:sp>
      <p:sp>
        <p:nvSpPr>
          <p:cNvPr id="6" name="Shape 3"/>
          <p:cNvSpPr/>
          <p:nvPr/>
        </p:nvSpPr>
        <p:spPr>
          <a:xfrm>
            <a:off x="2572524" y="4487585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2150FE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6477" y="4681418"/>
            <a:ext cx="258485" cy="2584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9654" y="5349359"/>
            <a:ext cx="3712250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Автоматическое определение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39654" y="6151721"/>
            <a:ext cx="371225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Система распознает типы документов: договоры, счета, отчеты, </a:t>
            </a:r>
            <a:r>
              <a:rPr lang="ru-RU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таблицы</a:t>
            </a: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и прочее.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213152" y="4810720"/>
            <a:ext cx="4203978" cy="2621280"/>
          </a:xfrm>
          <a:prstGeom prst="roundRect">
            <a:avLst>
              <a:gd name="adj" fmla="val 5581"/>
            </a:avLst>
          </a:prstGeom>
          <a:solidFill>
            <a:srgbClr val="FFFFFF">
              <a:alpha val="95000"/>
            </a:srgbClr>
          </a:solidFill>
          <a:ln/>
          <a:effectLst>
            <a:outerShdw blurRad="32258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213152" y="4780240"/>
            <a:ext cx="4203978" cy="121920"/>
          </a:xfrm>
          <a:prstGeom prst="roundRect">
            <a:avLst>
              <a:gd name="adj" fmla="val 159070"/>
            </a:avLst>
          </a:prstGeom>
          <a:solidFill>
            <a:srgbClr val="2150FE"/>
          </a:solidFill>
          <a:ln/>
        </p:spPr>
      </p:sp>
      <p:sp>
        <p:nvSpPr>
          <p:cNvPr id="12" name="Shape 8"/>
          <p:cNvSpPr/>
          <p:nvPr/>
        </p:nvSpPr>
        <p:spPr>
          <a:xfrm>
            <a:off x="6991886" y="4487585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2150F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5839" y="4681418"/>
            <a:ext cx="258485" cy="2584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59016" y="534935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Теги и категории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459016" y="5815132"/>
            <a:ext cx="371225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Присвоение релевантных тегов и категорий для детализированной организации.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9632513" y="4810720"/>
            <a:ext cx="4203978" cy="2621280"/>
          </a:xfrm>
          <a:prstGeom prst="roundRect">
            <a:avLst>
              <a:gd name="adj" fmla="val 5581"/>
            </a:avLst>
          </a:prstGeom>
          <a:solidFill>
            <a:srgbClr val="FFFFFF">
              <a:alpha val="95000"/>
            </a:srgbClr>
          </a:solidFill>
          <a:ln/>
          <a:effectLst>
            <a:outerShdw blurRad="322580" algn="bl" rotWithShape="0">
              <a:srgbClr val="333333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32513" y="4780240"/>
            <a:ext cx="4203978" cy="121920"/>
          </a:xfrm>
          <a:prstGeom prst="roundRect">
            <a:avLst>
              <a:gd name="adj" fmla="val 159070"/>
            </a:avLst>
          </a:prstGeom>
          <a:solidFill>
            <a:srgbClr val="2150FE"/>
          </a:solidFill>
          <a:ln/>
        </p:spPr>
      </p:sp>
      <p:sp>
        <p:nvSpPr>
          <p:cNvPr id="18" name="Shape 13"/>
          <p:cNvSpPr/>
          <p:nvPr/>
        </p:nvSpPr>
        <p:spPr>
          <a:xfrm>
            <a:off x="11411248" y="4487585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2150F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5200" y="4681418"/>
            <a:ext cx="258485" cy="25848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78378" y="5349359"/>
            <a:ext cx="295906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Внутренние/Внешние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878378" y="5815132"/>
            <a:ext cx="371225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Разделение документов по типу источника для легкой навигации и контроля.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CE6C1F9-B4ED-C23D-F768-8F9C52EAC161}"/>
              </a:ext>
            </a:extLst>
          </p:cNvPr>
          <p:cNvSpPr/>
          <p:nvPr/>
        </p:nvSpPr>
        <p:spPr>
          <a:xfrm>
            <a:off x="12890500" y="7747000"/>
            <a:ext cx="1625600" cy="3629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4D5EE76-077A-46EA-F61D-4C587EC82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5893" y="231910"/>
            <a:ext cx="1615437" cy="48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7555AE1-0A47-E3B8-953A-BB7E50379C2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-50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48083" y="-585509"/>
            <a:ext cx="15267843" cy="3938610"/>
          </a:xfrm>
          <a:prstGeom prst="rect">
            <a:avLst/>
          </a:prstGeom>
          <a:ln>
            <a:noFill/>
          </a:ln>
          <a:effectLst>
            <a:softEdge rad="6350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4370"/>
            <a:ext cx="755380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Мощный поиск и фильтрация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1618417"/>
            <a:ext cx="75564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Найдите нужный документ в считанные секунды, используя разнообразные инструменты поиска.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2501384"/>
            <a:ext cx="7556421" cy="1548527"/>
          </a:xfrm>
          <a:prstGeom prst="roundRect">
            <a:avLst>
              <a:gd name="adj" fmla="val 1186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  <a:effectLst>
            <a:outerShdw blurRad="306070" algn="bl" rotWithShape="0">
              <a:srgbClr val="333333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16650" y="2524244"/>
            <a:ext cx="816531" cy="1502807"/>
          </a:xfrm>
          <a:prstGeom prst="roundRect">
            <a:avLst>
              <a:gd name="adj" fmla="val 19142"/>
            </a:avLst>
          </a:prstGeom>
          <a:solidFill>
            <a:srgbClr val="FFFFFF"/>
          </a:solidFill>
          <a:ln/>
          <a:effectLst>
            <a:outerShdw blurRad="30607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71801" y="3084314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1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837253" y="272831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Поиск по каталогам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837253" y="3169563"/>
            <a:ext cx="628602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Быстрый переход по структуре каталогов к нужной информации.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4253984"/>
            <a:ext cx="7556421" cy="1548527"/>
          </a:xfrm>
          <a:prstGeom prst="roundRect">
            <a:avLst>
              <a:gd name="adj" fmla="val 1186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  <a:effectLst>
            <a:outerShdw blurRad="30607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16650" y="4276844"/>
            <a:ext cx="816531" cy="1502807"/>
          </a:xfrm>
          <a:prstGeom prst="roundRect">
            <a:avLst>
              <a:gd name="adj" fmla="val 19142"/>
            </a:avLst>
          </a:prstGeom>
          <a:solidFill>
            <a:srgbClr val="FFFFFF"/>
          </a:solidFill>
          <a:ln/>
          <a:effectLst>
            <a:outerShdw blurRad="30607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71801" y="4836914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2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837253" y="4480917"/>
            <a:ext cx="296275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Поиск по содержимому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837253" y="4922163"/>
            <a:ext cx="628602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Полнотекстовый поиск по </a:t>
            </a:r>
            <a:r>
              <a:rPr lang="en-US" sz="1600" dirty="0" err="1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всем</a:t>
            </a:r>
            <a:r>
              <a:rPr lang="en-US" sz="16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документам</a:t>
            </a:r>
            <a:r>
              <a:rPr lang="en-US" sz="16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93790" y="6006584"/>
            <a:ext cx="7556421" cy="1548527"/>
          </a:xfrm>
          <a:prstGeom prst="roundRect">
            <a:avLst>
              <a:gd name="adj" fmla="val 1186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  <a:effectLst>
            <a:outerShdw blurRad="30607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6650" y="6029444"/>
            <a:ext cx="816531" cy="1502807"/>
          </a:xfrm>
          <a:prstGeom prst="roundRect">
            <a:avLst>
              <a:gd name="adj" fmla="val 19142"/>
            </a:avLst>
          </a:prstGeom>
          <a:solidFill>
            <a:srgbClr val="FFFFFF"/>
          </a:solidFill>
          <a:ln/>
          <a:effectLst>
            <a:outerShdw blurRad="306070" algn="bl" rotWithShape="0">
              <a:srgbClr val="333333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71801" y="6589514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3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837253" y="623351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Фильтры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837253" y="6674763"/>
            <a:ext cx="628602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Уточнение результатов по отделам, типам документов, датам создания и другим параметрам.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CA174D01-56A4-5185-6D09-10B454B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5893" y="231910"/>
            <a:ext cx="1615437" cy="48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8690610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ru-RU" sz="405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Админ панель и </a:t>
            </a:r>
            <a:r>
              <a:rPr lang="en-US" sz="4050" b="1" dirty="0" err="1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контроль</a:t>
            </a:r>
            <a:r>
              <a:rPr lang="en-US" sz="4050" b="1" dirty="0">
                <a:solidFill>
                  <a:srgbClr val="152D47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 доступа</a:t>
            </a:r>
            <a:endParaRPr lang="en-US" sz="4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638" y="1369992"/>
            <a:ext cx="6342102" cy="63421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74280" y="1862078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2150FE"/>
          </a:solidFill>
          <a:ln/>
        </p:spPr>
      </p:sp>
      <p:sp>
        <p:nvSpPr>
          <p:cNvPr id="5" name="Text 2"/>
          <p:cNvSpPr/>
          <p:nvPr/>
        </p:nvSpPr>
        <p:spPr>
          <a:xfrm>
            <a:off x="7883366" y="1752481"/>
            <a:ext cx="389965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Многоуровневая система прав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83366" y="2280761"/>
            <a:ext cx="6033016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Детальная настройка доступа для каждого пользователя или группы.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574280" y="3462516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2150FE"/>
          </a:solidFill>
          <a:ln/>
        </p:spPr>
      </p:sp>
      <p:sp>
        <p:nvSpPr>
          <p:cNvPr id="8" name="Text 5"/>
          <p:cNvSpPr/>
          <p:nvPr/>
        </p:nvSpPr>
        <p:spPr>
          <a:xfrm>
            <a:off x="7883366" y="3352919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Личные кабинеты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883366" y="3881199"/>
            <a:ext cx="6033016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Персонализированное рабочее пространство с доступом только к разрешенным документам.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574280" y="5062954"/>
            <a:ext cx="102989" cy="102989"/>
          </a:xfrm>
          <a:prstGeom prst="roundRect">
            <a:avLst>
              <a:gd name="adj" fmla="val 443931"/>
            </a:avLst>
          </a:prstGeom>
          <a:solidFill>
            <a:srgbClr val="2150FE"/>
          </a:solidFill>
          <a:ln/>
        </p:spPr>
      </p:sp>
      <p:sp>
        <p:nvSpPr>
          <p:cNvPr id="11" name="Text 8"/>
          <p:cNvSpPr/>
          <p:nvPr/>
        </p:nvSpPr>
        <p:spPr>
          <a:xfrm>
            <a:off x="7883366" y="4953357"/>
            <a:ext cx="3520440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C4C4D"/>
                </a:solidFill>
                <a:latin typeface="Arial" panose="020B0604020202020204" pitchFamily="34" charset="0"/>
                <a:ea typeface="Overpass Bold" pitchFamily="34" charset="-122"/>
                <a:cs typeface="Arial" panose="020B0604020202020204" pitchFamily="34" charset="0"/>
              </a:rPr>
              <a:t>Журналирование действий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83366" y="5481638"/>
            <a:ext cx="6033016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rial" panose="020B0604020202020204" pitchFamily="34" charset="0"/>
                <a:ea typeface="Overpass" pitchFamily="34" charset="-122"/>
                <a:cs typeface="Arial" panose="020B0604020202020204" pitchFamily="34" charset="0"/>
              </a:rPr>
              <a:t>Полная история всех операций с документами для аудита и обеспечения безопасности.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1FFDE61-295A-85CA-E313-4825F7A64F4A}"/>
              </a:ext>
            </a:extLst>
          </p:cNvPr>
          <p:cNvSpPr/>
          <p:nvPr/>
        </p:nvSpPr>
        <p:spPr>
          <a:xfrm>
            <a:off x="12890500" y="7747000"/>
            <a:ext cx="1625600" cy="3629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BA506E0-543D-81A8-C1A0-1CFD8206A4C9}"/>
              </a:ext>
            </a:extLst>
          </p:cNvPr>
          <p:cNvSpPr/>
          <p:nvPr/>
        </p:nvSpPr>
        <p:spPr>
          <a:xfrm rot="462410">
            <a:off x="12654420" y="-1843103"/>
            <a:ext cx="3573820" cy="3047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796C79C2-D5E7-D649-7FFB-6DE61B5B7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5893" y="231910"/>
            <a:ext cx="1615437" cy="48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398</Words>
  <Application>Microsoft Office PowerPoint</Application>
  <PresentationFormat>Произвольный</PresentationFormat>
  <Paragraphs>77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Bahnschrift SemiBold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DAMAGER .</cp:lastModifiedBy>
  <cp:revision>9</cp:revision>
  <dcterms:created xsi:type="dcterms:W3CDTF">2025-11-28T08:38:57Z</dcterms:created>
  <dcterms:modified xsi:type="dcterms:W3CDTF">2025-11-28T12:24:06Z</dcterms:modified>
</cp:coreProperties>
</file>