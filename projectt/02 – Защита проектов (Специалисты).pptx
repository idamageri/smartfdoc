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Manrope"/>
      <p:regular r:id="rId23"/>
      <p:bold r:id="rId24"/>
    </p:embeddedFont>
    <p:embeddedFont>
      <p:font typeface="Open Sans SemiBold"/>
      <p:regular r:id="rId25"/>
      <p:bold r:id="rId26"/>
      <p:italic r:id="rId27"/>
      <p:boldItalic r:id="rId28"/>
    </p:embeddedFont>
    <p:embeddedFont>
      <p:font typeface="Manrope ExtraBold"/>
      <p:bold r:id="rId29"/>
    </p:embeddedFont>
    <p:embeddedFont>
      <p:font typeface="Manrope Medium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  <p15:guide id="2" pos="11160">
          <p15:clr>
            <a:srgbClr val="747775"/>
          </p15:clr>
        </p15:guide>
        <p15:guide id="3" orient="horz" pos="360">
          <p15:clr>
            <a:srgbClr val="747775"/>
          </p15:clr>
        </p15:guide>
        <p15:guide id="4" orient="horz" pos="1080">
          <p15:clr>
            <a:srgbClr val="747775"/>
          </p15:clr>
        </p15:guide>
        <p15:guide id="5" pos="480">
          <p15:clr>
            <a:srgbClr val="747775"/>
          </p15:clr>
        </p15:guide>
        <p15:guide id="6" orient="horz" pos="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  <p:guide pos="11160"/>
        <p:guide pos="360" orient="horz"/>
        <p:guide pos="1080" orient="horz"/>
        <p:guide pos="480"/>
        <p:guide pos="80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anrope-bold.fntdata"/><Relationship Id="rId23" Type="http://schemas.openxmlformats.org/officeDocument/2006/relationships/font" Target="fonts/Manrop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SemiBold-bold.fntdata"/><Relationship Id="rId25" Type="http://schemas.openxmlformats.org/officeDocument/2006/relationships/font" Target="fonts/OpenSansSemiBold-regular.fntdata"/><Relationship Id="rId28" Type="http://schemas.openxmlformats.org/officeDocument/2006/relationships/font" Target="fonts/OpenSansSemiBold-boldItalic.fntdata"/><Relationship Id="rId27" Type="http://schemas.openxmlformats.org/officeDocument/2006/relationships/font" Target="fonts/OpenSans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anrope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nropeMedium-bold.fntdata"/><Relationship Id="rId30" Type="http://schemas.openxmlformats.org/officeDocument/2006/relationships/font" Target="fonts/ManropeMedium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d9a0f3c7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d9a0f3c7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5d7df9ee4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1" name="Google Shape;71;g385d7df9ee4_1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d9a0f3c79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9" name="Google Shape;79;g38d9a0f3c79_3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d9a0f3c79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7" name="Google Shape;87;g38d9a0f3c79_3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d9a0f3c79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96" name="Google Shape;96;g38d9a0f3c79_3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dd5a1ba6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04" name="Google Shape;104;g38dd5a1ba6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dd5a1ba6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12" name="Google Shape;112;g38dd5a1ba6a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dd5a1ba6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20" name="Google Shape;120;g38dd5a1ba6a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dd5a1ba6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28" name="Google Shape;128;g38dd5a1ba6a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dd5a1ba6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36" name="Google Shape;136;g38dd5a1ba6a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dd5a1ba6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44" name="Google Shape;144;g38dd5a1ba6a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dd5a1ba6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54" name="Google Shape;154;g38dd5a1ba6a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 3">
  <p:cSld name="TITLE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333500" y="1724026"/>
            <a:ext cx="15621000" cy="34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333500" y="5305426"/>
            <a:ext cx="15621000" cy="1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3600"/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/>
            </a:lvl2pPr>
            <a:lvl3pPr indent="-2286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/>
            </a:lvl3pPr>
            <a:lvl4pPr indent="-2286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/>
            </a:lvl4pPr>
            <a:lvl5pPr indent="-2286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/>
            </a:lvl5pPr>
            <a:lvl6pPr indent="-2921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2800"/>
            </a:lvl6pPr>
            <a:lvl7pPr indent="-2921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2800"/>
            </a:lvl7pPr>
            <a:lvl8pPr indent="-2921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2800"/>
            </a:lvl8pPr>
            <a:lvl9pPr indent="-2921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28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969274" y="9810750"/>
            <a:ext cx="340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20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type="ctrTitle"/>
          </p:nvPr>
        </p:nvSpPr>
        <p:spPr>
          <a:xfrm>
            <a:off x="623416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59" name="Google Shape;59;p17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 title="Логотипы-белый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0" y="571500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/>
          <p:nvPr/>
        </p:nvSpPr>
        <p:spPr>
          <a:xfrm>
            <a:off x="1047750" y="3311188"/>
            <a:ext cx="16192500" cy="26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lang="ru" sz="6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Защита проектов</a:t>
            </a:r>
            <a:endParaRPr sz="6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7" name="Google Shape;67;p18"/>
          <p:cNvSpPr/>
          <p:nvPr/>
        </p:nvSpPr>
        <p:spPr>
          <a:xfrm>
            <a:off x="2120250" y="6313975"/>
            <a:ext cx="140475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Регламент:</a:t>
            </a:r>
            <a:endParaRPr b="1" sz="2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Выступление</a:t>
            </a:r>
            <a:r>
              <a:rPr lang="ru" sz="2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— 3 минуты</a:t>
            </a:r>
            <a:endParaRPr sz="2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и </a:t>
            </a:r>
            <a:r>
              <a:rPr b="1" lang="ru" sz="2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демонстрация прототипа</a:t>
            </a:r>
            <a:r>
              <a:rPr lang="ru" sz="2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— 2 минуты</a:t>
            </a:r>
            <a:endParaRPr sz="2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sz="28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68" name="Google Shape;6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571499"/>
            <a:ext cx="1510111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4" name="Google Shape;74;p19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Краткая инструкция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9"/>
          <p:cNvSpPr txBox="1"/>
          <p:nvPr/>
        </p:nvSpPr>
        <p:spPr>
          <a:xfrm>
            <a:off x="762000" y="2211700"/>
            <a:ext cx="16714800" cy="6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Презентацию </a:t>
            </a:r>
            <a:r>
              <a:rPr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</a:t>
            </a:r>
            <a:r>
              <a:rPr b="1"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Скринкаст </a:t>
            </a:r>
            <a:r>
              <a:rPr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загружайте </a:t>
            </a:r>
            <a:endParaRPr sz="3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отдельными файлами в свою </a:t>
            </a:r>
            <a:r>
              <a:rPr b="1"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рабочую папку {Номер_команды}-{Название_команды} </a:t>
            </a:r>
            <a:endParaRPr b="1" sz="3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В видео должно показываться </a:t>
            </a:r>
            <a:endParaRPr b="1" sz="3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основной функционал прототипа</a:t>
            </a:r>
            <a:endParaRPr b="1" sz="3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(Продолжительность 15—40 секунд)</a:t>
            </a:r>
            <a:endParaRPr sz="3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Структуру презентации разрешается </a:t>
            </a:r>
            <a:endParaRPr b="1" sz="3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ru"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менять по своему усмотрению</a:t>
            </a:r>
            <a:endParaRPr b="1" sz="3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6" name="Google Shape;76;p19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82" name="Google Shape;82;p20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Пошаговые задачи 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20"/>
          <p:cNvSpPr txBox="1"/>
          <p:nvPr/>
        </p:nvSpPr>
        <p:spPr>
          <a:xfrm>
            <a:off x="762000" y="1714500"/>
            <a:ext cx="16845900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AutoNum type="arabicPeriod"/>
            </a:pPr>
            <a:r>
              <a:rPr b="1" lang="ru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Обложка</a:t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AutoNum type="arabicPeriod"/>
            </a:pPr>
            <a:r>
              <a:rPr b="1" lang="ru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Проблема </a:t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AutoNum type="arabicPeriod"/>
            </a:pPr>
            <a:r>
              <a:rPr b="1" lang="ru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ЦА (Сегменты Пользователей)</a:t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AutoNum type="arabicPeriod"/>
            </a:pPr>
            <a:r>
              <a:rPr b="1" lang="ru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Использованные стек-технологии</a:t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AutoNum type="arabicPeriod"/>
            </a:pPr>
            <a:r>
              <a:rPr b="1" lang="ru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Решение</a:t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AutoNum type="arabicPeriod"/>
            </a:pPr>
            <a:r>
              <a:rPr b="1" lang="ru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Альтернативные решения (действующие на рынке)</a:t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AutoNum type="arabicPeriod"/>
            </a:pPr>
            <a:r>
              <a:rPr b="1" lang="ru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Схема работы прототипа</a:t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AutoNum type="arabicPeriod"/>
            </a:pPr>
            <a:r>
              <a:rPr b="1" lang="ru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Демо и скринкаст 15—40 сек </a:t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AutoNum type="arabicPeriod"/>
            </a:pPr>
            <a:r>
              <a:rPr b="1" lang="ru"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Контакты</a:t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ru" sz="2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Структуру презентации разрешается менять по своему усмотрению.</a:t>
            </a:r>
            <a:endParaRPr i="1" sz="28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Регламент: </a:t>
            </a:r>
            <a:r>
              <a:rPr lang="ru" sz="2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5 минут</a:t>
            </a:r>
            <a:endParaRPr sz="28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Выступление — </a:t>
            </a:r>
            <a:r>
              <a:rPr lang="ru" sz="2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3 минуты и </a:t>
            </a:r>
            <a:r>
              <a:rPr b="1" lang="ru" sz="2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демонстрация прототипа</a:t>
            </a:r>
            <a:r>
              <a:rPr lang="ru" sz="2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 — 2 минуты</a:t>
            </a:r>
            <a:endParaRPr sz="28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43F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4" name="Google Shape;84;p20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0" name="Google Shape;90;p21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1" name="Google Shape;91;p21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/>
        </p:nvSpPr>
        <p:spPr>
          <a:xfrm>
            <a:off x="3455375" y="5888822"/>
            <a:ext cx="11490900" cy="21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300" lIns="123300" spcFirstLastPara="1" rIns="123300" wrap="square" tIns="1233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349"/>
              </a:spcBef>
              <a:spcAft>
                <a:spcPts val="1349"/>
              </a:spcAft>
              <a:buClr>
                <a:srgbClr val="000000"/>
              </a:buClr>
              <a:buSzPts val="4046"/>
              <a:buFont typeface="Arial"/>
              <a:buNone/>
            </a:pPr>
            <a:r>
              <a:rPr b="1" i="0" lang="ru" sz="4045" u="none" cap="none" strike="noStrike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{Название_команды} </a:t>
            </a:r>
            <a:endParaRPr b="1" i="0" sz="4045" u="none" cap="none" strike="noStrike">
              <a:solidFill>
                <a:srgbClr val="5D39F5"/>
              </a:solidFill>
              <a:highlight>
                <a:srgbClr val="FF00FF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21"/>
          <p:cNvSpPr/>
          <p:nvPr/>
        </p:nvSpPr>
        <p:spPr>
          <a:xfrm>
            <a:off x="7649701" y="2251108"/>
            <a:ext cx="2988600" cy="2881800"/>
          </a:xfrm>
          <a:prstGeom prst="ellipse">
            <a:avLst/>
          </a:prstGeom>
          <a:gradFill>
            <a:gsLst>
              <a:gs pos="0">
                <a:srgbClr val="FFFFFF">
                  <a:alpha val="85098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38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300" lIns="123300" spcFirstLastPara="1" rIns="123300" wrap="square" tIns="123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7"/>
              <a:buFont typeface="Arial"/>
              <a:buNone/>
            </a:pPr>
            <a:r>
              <a:rPr b="1" i="0" lang="ru" sz="2427" u="none" cap="none" strike="noStrike">
                <a:solidFill>
                  <a:srgbClr val="5D39F5"/>
                </a:solidFill>
                <a:latin typeface="Arial"/>
                <a:ea typeface="Arial"/>
                <a:cs typeface="Arial"/>
                <a:sym typeface="Arial"/>
              </a:rPr>
              <a:t>{LOGO}</a:t>
            </a:r>
            <a:endParaRPr b="1" i="0" sz="2427" u="none" cap="none" strike="noStrike">
              <a:solidFill>
                <a:srgbClr val="5D39F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9" name="Google Shape;99;p22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Проблема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0" name="Google Shape;100;p22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2"/>
          <p:cNvSpPr txBox="1"/>
          <p:nvPr/>
        </p:nvSpPr>
        <p:spPr>
          <a:xfrm>
            <a:off x="762000" y="3641850"/>
            <a:ext cx="16714800" cy="3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Какую важную проблему решает ваш проект?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Настоящая проблема пользователя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Что у него в деятельности сейчас не так?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Приведите примеры такой проблемы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07" name="Google Shape;107;p23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Целевая аудитория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8" name="Google Shape;108;p23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3"/>
          <p:cNvSpPr txBox="1"/>
          <p:nvPr/>
        </p:nvSpPr>
        <p:spPr>
          <a:xfrm>
            <a:off x="762000" y="3641850"/>
            <a:ext cx="16714800" cy="3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Опишите ваших пользователей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Может быть несколько целевых групп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(водители такси и заказчики)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Пользовательские сегменты и Объем рынка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15" name="Google Shape;115;p24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Использованные набора технологий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6" name="Google Shape;116;p24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4"/>
          <p:cNvSpPr txBox="1"/>
          <p:nvPr/>
        </p:nvSpPr>
        <p:spPr>
          <a:xfrm>
            <a:off x="762000" y="3641850"/>
            <a:ext cx="16714800" cy="1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Какие инструменты и библиотеки были использованы 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в ходе решении задачи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Решение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4" name="Google Shape;124;p25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/>
        </p:nvSpPr>
        <p:spPr>
          <a:xfrm>
            <a:off x="762000" y="3641850"/>
            <a:ext cx="16714800" cy="3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Как устроен ПРОТОТИП продукта?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Схема работы прототипа (User Flow)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Функциональные возможности продукта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Ожидаемые результаты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31" name="Google Shape;131;p26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Альтернативные подходы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2" name="Google Shape;132;p26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/>
        </p:nvSpPr>
        <p:spPr>
          <a:xfrm>
            <a:off x="786600" y="3641850"/>
            <a:ext cx="16714800" cy="3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Какие существуют альтернативные подходы?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Анализ существующих решений на сегодняшний день 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или были в прошлом, провести исследовательскую работу 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от которого вы оттолкнулись в решении кейса.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39" name="Google Shape;139;p27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Схема работы прототипа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0" name="Google Shape;140;p27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/>
        </p:nvSpPr>
        <p:spPr>
          <a:xfrm>
            <a:off x="786600" y="3641850"/>
            <a:ext cx="16714800" cy="3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0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Визуально покажите последовательность действий (сценарий), которые пользователь выполняет в прототипе</a:t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40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Демо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8" name="Google Shape;148;p28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/>
          <p:nvPr/>
        </p:nvSpPr>
        <p:spPr>
          <a:xfrm>
            <a:off x="2975177" y="7079783"/>
            <a:ext cx="12166800" cy="15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5"/>
              <a:buFont typeface="Arial"/>
              <a:buNone/>
            </a:pPr>
            <a:r>
              <a:t/>
            </a:r>
            <a:endParaRPr b="1" i="0" sz="2204" u="none" cap="none" strike="noStrike">
              <a:solidFill>
                <a:srgbClr val="000000"/>
              </a:solidFill>
              <a:highlight>
                <a:srgbClr val="FFFFFF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4619163" y="1667313"/>
            <a:ext cx="88788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566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и контакты</a:t>
            </a:r>
            <a:endParaRPr b="1" sz="566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8"/>
          <p:cNvSpPr txBox="1"/>
          <p:nvPr/>
        </p:nvSpPr>
        <p:spPr>
          <a:xfrm>
            <a:off x="786600" y="3445075"/>
            <a:ext cx="16714800" cy="3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Видео демонстрация прототипа </a:t>
            </a:r>
            <a:endParaRPr i="1" sz="48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(показать основной функционал)  </a:t>
            </a:r>
            <a:endParaRPr i="1" sz="48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Длительность скринкаста </a:t>
            </a:r>
            <a:r>
              <a:rPr i="1" lang="ru" sz="4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демо</a:t>
            </a:r>
            <a:r>
              <a:rPr i="1" lang="ru" sz="4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 15—40 сек.</a:t>
            </a:r>
            <a:endParaRPr i="1" sz="48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ru" sz="4800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и Реальная демонстрация прототипа.</a:t>
            </a:r>
            <a:endParaRPr i="1" sz="4800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/>
        </p:nvSpPr>
        <p:spPr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57" name="Google Shape;157;p29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Команда и контакты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t/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8" name="Google Shape;158;p29" title="мпит лого град.png"/>
          <p:cNvPicPr preferRelativeResize="0"/>
          <p:nvPr/>
        </p:nvPicPr>
        <p:blipFill rotWithShape="1">
          <a:blip r:embed="rId4">
            <a:alphaModFix/>
          </a:blip>
          <a:srcRect b="-9723" l="0" r="0" t="-773"/>
          <a:stretch/>
        </p:blipFill>
        <p:spPr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/>
        </p:nvSpPr>
        <p:spPr>
          <a:xfrm>
            <a:off x="4191550" y="5507492"/>
            <a:ext cx="375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149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Фамилия Имя</a:t>
            </a:r>
            <a:endParaRPr b="1" sz="3149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4637451" y="6622594"/>
            <a:ext cx="3008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3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{Роль}</a:t>
            </a:r>
            <a:endParaRPr b="1" sz="283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1890"/>
              </a:spcBef>
              <a:spcAft>
                <a:spcPts val="1890"/>
              </a:spcAft>
              <a:buNone/>
            </a:pPr>
            <a:r>
              <a:rPr b="1" lang="ru" sz="220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+7 (999) 123-45-67</a:t>
            </a:r>
            <a:endParaRPr b="1" sz="220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4619163" y="1667313"/>
            <a:ext cx="88788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566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и контакты</a:t>
            </a:r>
            <a:endParaRPr b="1" sz="566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7323123" y="5507492"/>
            <a:ext cx="375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149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Фамилия Имя</a:t>
            </a:r>
            <a:endParaRPr b="1" sz="3149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13782472" y="5507492"/>
            <a:ext cx="375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149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Фамилия Имя</a:t>
            </a:r>
            <a:endParaRPr b="1" sz="3149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7554431" y="6622594"/>
            <a:ext cx="3008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83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{Роль}</a:t>
            </a:r>
            <a:endParaRPr b="1" sz="283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1890"/>
              </a:spcBef>
              <a:spcAft>
                <a:spcPts val="1890"/>
              </a:spcAft>
              <a:buNone/>
            </a:pPr>
            <a:r>
              <a:rPr b="1" lang="ru" sz="220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+7 (999) 123-45-67</a:t>
            </a:r>
            <a:endParaRPr b="1" sz="220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13991326" y="6622594"/>
            <a:ext cx="3008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83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{Роль}</a:t>
            </a:r>
            <a:endParaRPr b="1" sz="283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1890"/>
              </a:spcBef>
              <a:spcAft>
                <a:spcPts val="1890"/>
              </a:spcAft>
              <a:buNone/>
            </a:pPr>
            <a:r>
              <a:rPr b="1" lang="ru" sz="220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+7 (999) 123-45-67</a:t>
            </a:r>
            <a:endParaRPr b="1" sz="220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4849153" y="2625394"/>
            <a:ext cx="2256900" cy="2148000"/>
          </a:xfrm>
          <a:prstGeom prst="rect">
            <a:avLst/>
          </a:prstGeom>
          <a:solidFill>
            <a:srgbClr val="EEEEEE"/>
          </a:solidFill>
          <a:ln cap="flat" cmpd="sng" w="150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/>
          </a:p>
        </p:txBody>
      </p:sp>
      <p:sp>
        <p:nvSpPr>
          <p:cNvPr id="167" name="Google Shape;167;p29"/>
          <p:cNvSpPr/>
          <p:nvPr/>
        </p:nvSpPr>
        <p:spPr>
          <a:xfrm>
            <a:off x="8076637" y="2625394"/>
            <a:ext cx="2256900" cy="2148000"/>
          </a:xfrm>
          <a:prstGeom prst="rect">
            <a:avLst/>
          </a:prstGeom>
          <a:solidFill>
            <a:srgbClr val="EEEEEE"/>
          </a:solidFill>
          <a:ln cap="flat" cmpd="sng" w="150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/>
          </a:p>
        </p:txBody>
      </p:sp>
      <p:sp>
        <p:nvSpPr>
          <p:cNvPr id="168" name="Google Shape;168;p29"/>
          <p:cNvSpPr/>
          <p:nvPr/>
        </p:nvSpPr>
        <p:spPr>
          <a:xfrm>
            <a:off x="14531605" y="2625394"/>
            <a:ext cx="2256900" cy="2148000"/>
          </a:xfrm>
          <a:prstGeom prst="rect">
            <a:avLst/>
          </a:prstGeom>
          <a:solidFill>
            <a:srgbClr val="EEEEEE"/>
          </a:solidFill>
          <a:ln cap="flat" cmpd="sng" w="150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/>
          </a:p>
        </p:txBody>
      </p:sp>
      <p:sp>
        <p:nvSpPr>
          <p:cNvPr id="169" name="Google Shape;169;p29"/>
          <p:cNvSpPr txBox="1"/>
          <p:nvPr/>
        </p:nvSpPr>
        <p:spPr>
          <a:xfrm>
            <a:off x="863775" y="5507492"/>
            <a:ext cx="375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149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Фамилия Имя</a:t>
            </a:r>
            <a:endParaRPr b="1" sz="3149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1309676" y="6622594"/>
            <a:ext cx="3008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3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{Роль}</a:t>
            </a:r>
            <a:endParaRPr b="1" sz="283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1890"/>
              </a:spcBef>
              <a:spcAft>
                <a:spcPts val="1890"/>
              </a:spcAft>
              <a:buNone/>
            </a:pPr>
            <a:r>
              <a:rPr b="1" lang="ru" sz="220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+7 (999) 123-45-67</a:t>
            </a:r>
            <a:endParaRPr b="1" sz="220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1" name="Google Shape;171;p29"/>
          <p:cNvSpPr/>
          <p:nvPr/>
        </p:nvSpPr>
        <p:spPr>
          <a:xfrm>
            <a:off x="1621669" y="2625394"/>
            <a:ext cx="2256900" cy="2148000"/>
          </a:xfrm>
          <a:prstGeom prst="rect">
            <a:avLst/>
          </a:prstGeom>
          <a:solidFill>
            <a:srgbClr val="EEEEEE"/>
          </a:solidFill>
          <a:ln cap="flat" cmpd="sng" w="150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/>
          </a:p>
        </p:txBody>
      </p:sp>
      <p:sp>
        <p:nvSpPr>
          <p:cNvPr id="172" name="Google Shape;172;p29"/>
          <p:cNvSpPr txBox="1"/>
          <p:nvPr/>
        </p:nvSpPr>
        <p:spPr>
          <a:xfrm>
            <a:off x="10494948" y="5507492"/>
            <a:ext cx="375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149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Фамилия Имя</a:t>
            </a:r>
            <a:endParaRPr b="1" sz="3149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10726256" y="6622594"/>
            <a:ext cx="3008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144000" spcFirstLastPara="1" rIns="144000" wrap="square" tIns="1440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3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{Роль}</a:t>
            </a:r>
            <a:endParaRPr b="1" sz="283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15000"/>
              </a:lnSpc>
              <a:spcBef>
                <a:spcPts val="1890"/>
              </a:spcBef>
              <a:spcAft>
                <a:spcPts val="1890"/>
              </a:spcAft>
              <a:buNone/>
            </a:pPr>
            <a:r>
              <a:rPr b="1" lang="ru" sz="2204">
                <a:solidFill>
                  <a:srgbClr val="5D39F5"/>
                </a:solidFill>
                <a:latin typeface="Manrope"/>
                <a:ea typeface="Manrope"/>
                <a:cs typeface="Manrope"/>
                <a:sym typeface="Manrope"/>
              </a:rPr>
              <a:t>+7 (999) 123-45-67</a:t>
            </a:r>
            <a:endParaRPr b="1" sz="2204">
              <a:solidFill>
                <a:srgbClr val="5D39F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11304121" y="2625394"/>
            <a:ext cx="2256900" cy="2148000"/>
          </a:xfrm>
          <a:prstGeom prst="rect">
            <a:avLst/>
          </a:prstGeom>
          <a:solidFill>
            <a:srgbClr val="EEEEEE"/>
          </a:solidFill>
          <a:ln cap="flat" cmpd="sng" w="150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4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